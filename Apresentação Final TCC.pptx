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Public Sans Bold" charset="1" panose="00000000000000000000"/>
      <p:regular r:id="rId28"/>
    </p:embeddedFont>
    <p:embeddedFont>
      <p:font typeface="Playfair Display" charset="1" panose="00000500000000000000"/>
      <p:regular r:id="rId29"/>
    </p:embeddedFont>
    <p:embeddedFont>
      <p:font typeface="Public Sans" charset="1" panose="00000000000000000000"/>
      <p:regular r:id="rId30"/>
    </p:embeddedFont>
    <p:embeddedFont>
      <p:font typeface="Playfair Display Italics" charset="1" panose="000005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-117243"/>
            <a:ext cx="8185422" cy="1725760"/>
          </a:xfrm>
          <a:custGeom>
            <a:avLst/>
            <a:gdLst/>
            <a:ahLst/>
            <a:cxnLst/>
            <a:rect r="r" b="b" t="t" l="l"/>
            <a:pathLst>
              <a:path h="1725760" w="8185422">
                <a:moveTo>
                  <a:pt x="0" y="0"/>
                </a:moveTo>
                <a:lnTo>
                  <a:pt x="8185422" y="0"/>
                </a:lnTo>
                <a:lnTo>
                  <a:pt x="8185422" y="1725759"/>
                </a:lnTo>
                <a:lnTo>
                  <a:pt x="0" y="17257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82" y="4728792"/>
            <a:ext cx="16230600" cy="615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0"/>
              </a:lnSpc>
              <a:spcBef>
                <a:spcPct val="0"/>
              </a:spcBef>
            </a:pPr>
            <a:r>
              <a:rPr lang="en-US" b="true" sz="3514" spc="797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CHATBOT PARA ATAS INSTITUCIONAIS DA UFRRJ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6882" y="2250581"/>
            <a:ext cx="12809453" cy="208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UFRRJ - TCC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6" y="6649912"/>
            <a:ext cx="10908318" cy="349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Orientador</a:t>
            </a: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: Ubiratam Carvalho de Paula Jr, D.Sc.</a:t>
            </a:r>
          </a:p>
          <a:p>
            <a:pPr algn="l">
              <a:lnSpc>
                <a:spcPts val="3450"/>
              </a:lnSpc>
            </a:pPr>
          </a:p>
          <a:p>
            <a:pPr algn="l">
              <a:lnSpc>
                <a:spcPts val="3450"/>
              </a:lnSpc>
            </a:pPr>
            <a:r>
              <a:rPr lang="en-US" sz="2300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Co-orientador</a:t>
            </a: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: Fellipe Ribeiro Duarte, D.Sc.</a:t>
            </a:r>
          </a:p>
          <a:p>
            <a:pPr algn="l">
              <a:lnSpc>
                <a:spcPts val="3450"/>
              </a:lnSpc>
            </a:pPr>
          </a:p>
          <a:p>
            <a:pPr algn="l">
              <a:lnSpc>
                <a:spcPts val="3450"/>
              </a:lnSpc>
            </a:pPr>
            <a:r>
              <a:rPr lang="en-US" sz="2300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Alunos</a:t>
            </a: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: Felipe Rangel da Silva,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Gabriel Perez Vargas de Vasconcelos </a:t>
            </a:r>
          </a:p>
          <a:p>
            <a:pPr algn="l">
              <a:lnSpc>
                <a:spcPts val="3450"/>
              </a:lnSpc>
            </a:pP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                                                                                             Nova Iguaçu, Julho de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498761" y="9004910"/>
            <a:ext cx="5789239" cy="1220565"/>
          </a:xfrm>
          <a:custGeom>
            <a:avLst/>
            <a:gdLst/>
            <a:ahLst/>
            <a:cxnLst/>
            <a:rect r="r" b="b" t="t" l="l"/>
            <a:pathLst>
              <a:path h="1220565" w="5789239">
                <a:moveTo>
                  <a:pt x="0" y="0"/>
                </a:moveTo>
                <a:lnTo>
                  <a:pt x="5789239" y="0"/>
                </a:lnTo>
                <a:lnTo>
                  <a:pt x="5789239" y="1220565"/>
                </a:lnTo>
                <a:lnTo>
                  <a:pt x="0" y="122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6871" y="2291515"/>
            <a:ext cx="15492160" cy="6225912"/>
          </a:xfrm>
          <a:custGeom>
            <a:avLst/>
            <a:gdLst/>
            <a:ahLst/>
            <a:cxnLst/>
            <a:rect r="r" b="b" t="t" l="l"/>
            <a:pathLst>
              <a:path h="6225912" w="15492160">
                <a:moveTo>
                  <a:pt x="0" y="0"/>
                </a:moveTo>
                <a:lnTo>
                  <a:pt x="15492160" y="0"/>
                </a:lnTo>
                <a:lnTo>
                  <a:pt x="15492160" y="6225912"/>
                </a:lnTo>
                <a:lnTo>
                  <a:pt x="0" y="62259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498761" y="9004910"/>
            <a:ext cx="5789239" cy="1220565"/>
          </a:xfrm>
          <a:custGeom>
            <a:avLst/>
            <a:gdLst/>
            <a:ahLst/>
            <a:cxnLst/>
            <a:rect r="r" b="b" t="t" l="l"/>
            <a:pathLst>
              <a:path h="1220565" w="5789239">
                <a:moveTo>
                  <a:pt x="0" y="0"/>
                </a:moveTo>
                <a:lnTo>
                  <a:pt x="5789239" y="0"/>
                </a:lnTo>
                <a:lnTo>
                  <a:pt x="5789239" y="1220565"/>
                </a:lnTo>
                <a:lnTo>
                  <a:pt x="0" y="122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10254" y="2840782"/>
            <a:ext cx="7127218" cy="5599039"/>
          </a:xfrm>
          <a:custGeom>
            <a:avLst/>
            <a:gdLst/>
            <a:ahLst/>
            <a:cxnLst/>
            <a:rect r="r" b="b" t="t" l="l"/>
            <a:pathLst>
              <a:path h="5599039" w="7127218">
                <a:moveTo>
                  <a:pt x="0" y="0"/>
                </a:moveTo>
                <a:lnTo>
                  <a:pt x="7127217" y="0"/>
                </a:lnTo>
                <a:lnTo>
                  <a:pt x="7127217" y="5599040"/>
                </a:lnTo>
                <a:lnTo>
                  <a:pt x="0" y="55990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2649772"/>
            <a:ext cx="7917524" cy="592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65"/>
              </a:lnSpc>
            </a:pPr>
            <a:r>
              <a:rPr lang="en-US" sz="6050" spc="3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As atas da UFRRJ crescem continuamente, e buscar manualmente entre elas se torna cada vez mais difícil.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 PROBLEMA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498761" y="9004910"/>
            <a:ext cx="5789239" cy="1220565"/>
          </a:xfrm>
          <a:custGeom>
            <a:avLst/>
            <a:gdLst/>
            <a:ahLst/>
            <a:cxnLst/>
            <a:rect r="r" b="b" t="t" l="l"/>
            <a:pathLst>
              <a:path h="1220565" w="5789239">
                <a:moveTo>
                  <a:pt x="0" y="0"/>
                </a:moveTo>
                <a:lnTo>
                  <a:pt x="5789239" y="0"/>
                </a:lnTo>
                <a:lnTo>
                  <a:pt x="5789239" y="1220565"/>
                </a:lnTo>
                <a:lnTo>
                  <a:pt x="0" y="122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7321" y="2085061"/>
            <a:ext cx="16107232" cy="7530131"/>
          </a:xfrm>
          <a:custGeom>
            <a:avLst/>
            <a:gdLst/>
            <a:ahLst/>
            <a:cxnLst/>
            <a:rect r="r" b="b" t="t" l="l"/>
            <a:pathLst>
              <a:path h="7530131" w="16107232">
                <a:moveTo>
                  <a:pt x="0" y="0"/>
                </a:moveTo>
                <a:lnTo>
                  <a:pt x="16107232" y="0"/>
                </a:lnTo>
                <a:lnTo>
                  <a:pt x="16107232" y="7530131"/>
                </a:lnTo>
                <a:lnTo>
                  <a:pt x="0" y="75301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 CONTEXTO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909241"/>
            <a:ext cx="16242893" cy="493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65"/>
              </a:lnSpc>
            </a:pPr>
            <a:r>
              <a:rPr lang="en-US" sz="60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Disponibilizar uma ferramenta conversacional - </a:t>
            </a:r>
            <a:r>
              <a:rPr lang="en-US" sz="6050" i="true" spc="30">
                <a:solidFill>
                  <a:srgbClr val="EFEEE7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chatbot</a:t>
            </a:r>
            <a:r>
              <a:rPr lang="en-US" sz="60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- capaz de interpretar perguntas em linguagem natural e mapeá-las às atas institucionais mais pertinentes da UFRRJ.</a:t>
            </a:r>
          </a:p>
          <a:p>
            <a:pPr algn="l">
              <a:lnSpc>
                <a:spcPts val="7865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EFEEE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 </a:t>
            </a:r>
            <a:r>
              <a:rPr lang="en-US" b="true" sz="3714" spc="843">
                <a:solidFill>
                  <a:srgbClr val="EFEEE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OBJETIVO DO TRABALHO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EFEEE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2498761" y="9004910"/>
            <a:ext cx="5789239" cy="1220565"/>
          </a:xfrm>
          <a:custGeom>
            <a:avLst/>
            <a:gdLst/>
            <a:ahLst/>
            <a:cxnLst/>
            <a:rect r="r" b="b" t="t" l="l"/>
            <a:pathLst>
              <a:path h="1220565" w="5789239">
                <a:moveTo>
                  <a:pt x="0" y="0"/>
                </a:moveTo>
                <a:lnTo>
                  <a:pt x="5789239" y="0"/>
                </a:lnTo>
                <a:lnTo>
                  <a:pt x="5789239" y="1220565"/>
                </a:lnTo>
                <a:lnTo>
                  <a:pt x="0" y="122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498761" y="9004910"/>
            <a:ext cx="5789239" cy="1220565"/>
          </a:xfrm>
          <a:custGeom>
            <a:avLst/>
            <a:gdLst/>
            <a:ahLst/>
            <a:cxnLst/>
            <a:rect r="r" b="b" t="t" l="l"/>
            <a:pathLst>
              <a:path h="1220565" w="5789239">
                <a:moveTo>
                  <a:pt x="0" y="0"/>
                </a:moveTo>
                <a:lnTo>
                  <a:pt x="5789239" y="0"/>
                </a:lnTo>
                <a:lnTo>
                  <a:pt x="5789239" y="1220565"/>
                </a:lnTo>
                <a:lnTo>
                  <a:pt x="0" y="122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6871" y="4056076"/>
            <a:ext cx="17037748" cy="3908034"/>
          </a:xfrm>
          <a:custGeom>
            <a:avLst/>
            <a:gdLst/>
            <a:ahLst/>
            <a:cxnLst/>
            <a:rect r="r" b="b" t="t" l="l"/>
            <a:pathLst>
              <a:path h="3908034" w="17037748">
                <a:moveTo>
                  <a:pt x="0" y="0"/>
                </a:moveTo>
                <a:lnTo>
                  <a:pt x="17037749" y="0"/>
                </a:lnTo>
                <a:lnTo>
                  <a:pt x="17037749" y="3908034"/>
                </a:lnTo>
                <a:lnTo>
                  <a:pt x="0" y="39080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FUNDAMENTAÇÃO · CHATBOTS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695" y="2367322"/>
            <a:ext cx="8060531" cy="647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5"/>
              </a:lnSpc>
              <a:spcBef>
                <a:spcPct val="0"/>
              </a:spcBef>
            </a:pPr>
            <a:r>
              <a:rPr lang="en-US" b="true" sz="373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DÉCADAS DE EVOLUÇÃO ATÉ AQUI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196646"/>
            <a:ext cx="16242893" cy="493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65"/>
              </a:lnSpc>
            </a:pPr>
            <a:r>
              <a:rPr lang="en-US" sz="6050" spc="3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Definição adotada (IBM, 2025; DALE, 2016): programa que simula diálogo humano em linguagem natural — independente do nome (assistente, interface conversacional, chatbot).</a:t>
            </a:r>
          </a:p>
          <a:p>
            <a:pPr algn="l">
              <a:lnSpc>
                <a:spcPts val="7865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131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FUNDAMENTAÇÃO · CHATBOTS</a:t>
            </a:r>
          </a:p>
          <a:p>
            <a:pPr algn="l">
              <a:lnSpc>
                <a:spcPts val="5200"/>
              </a:lnSpc>
              <a:spcBef>
                <a:spcPct val="0"/>
              </a:spcBef>
            </a:pPr>
          </a:p>
        </p:txBody>
      </p:sp>
      <p:sp>
        <p:nvSpPr>
          <p:cNvPr name="AutoShape 4" id="4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2498761" y="9004910"/>
            <a:ext cx="5789239" cy="1220565"/>
          </a:xfrm>
          <a:custGeom>
            <a:avLst/>
            <a:gdLst/>
            <a:ahLst/>
            <a:cxnLst/>
            <a:rect r="r" b="b" t="t" l="l"/>
            <a:pathLst>
              <a:path h="1220565" w="5789239">
                <a:moveTo>
                  <a:pt x="0" y="0"/>
                </a:moveTo>
                <a:lnTo>
                  <a:pt x="5789239" y="0"/>
                </a:lnTo>
                <a:lnTo>
                  <a:pt x="5789239" y="1220565"/>
                </a:lnTo>
                <a:lnTo>
                  <a:pt x="0" y="122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498761" y="9004910"/>
            <a:ext cx="5789239" cy="1220565"/>
          </a:xfrm>
          <a:custGeom>
            <a:avLst/>
            <a:gdLst/>
            <a:ahLst/>
            <a:cxnLst/>
            <a:rect r="r" b="b" t="t" l="l"/>
            <a:pathLst>
              <a:path h="1220565" w="5789239">
                <a:moveTo>
                  <a:pt x="0" y="0"/>
                </a:moveTo>
                <a:lnTo>
                  <a:pt x="5789239" y="0"/>
                </a:lnTo>
                <a:lnTo>
                  <a:pt x="5789239" y="1220565"/>
                </a:lnTo>
                <a:lnTo>
                  <a:pt x="0" y="122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0627" y="3012247"/>
            <a:ext cx="17049258" cy="4784448"/>
          </a:xfrm>
          <a:custGeom>
            <a:avLst/>
            <a:gdLst/>
            <a:ahLst/>
            <a:cxnLst/>
            <a:rect r="r" b="b" t="t" l="l"/>
            <a:pathLst>
              <a:path h="4784448" w="17049258">
                <a:moveTo>
                  <a:pt x="0" y="0"/>
                </a:moveTo>
                <a:lnTo>
                  <a:pt x="17049258" y="0"/>
                </a:lnTo>
                <a:lnTo>
                  <a:pt x="17049258" y="4784448"/>
                </a:lnTo>
                <a:lnTo>
                  <a:pt x="0" y="47844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952500"/>
            <a:ext cx="16230600" cy="1296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4"/>
              </a:lnSpc>
            </a:pPr>
            <a:r>
              <a:rPr lang="en-US" b="true" sz="3710" spc="842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FUNDAMENTAÇÃO · TAXONOMIA</a:t>
            </a:r>
          </a:p>
          <a:p>
            <a:pPr algn="l">
              <a:lnSpc>
                <a:spcPts val="519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EFEEE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498761" y="9004910"/>
            <a:ext cx="5789239" cy="1220565"/>
          </a:xfrm>
          <a:custGeom>
            <a:avLst/>
            <a:gdLst/>
            <a:ahLst/>
            <a:cxnLst/>
            <a:rect r="r" b="b" t="t" l="l"/>
            <a:pathLst>
              <a:path h="1220565" w="5789239">
                <a:moveTo>
                  <a:pt x="0" y="0"/>
                </a:moveTo>
                <a:lnTo>
                  <a:pt x="5789239" y="0"/>
                </a:lnTo>
                <a:lnTo>
                  <a:pt x="5789239" y="1220565"/>
                </a:lnTo>
                <a:lnTo>
                  <a:pt x="0" y="122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2814" y="2324106"/>
            <a:ext cx="16878715" cy="6160731"/>
          </a:xfrm>
          <a:custGeom>
            <a:avLst/>
            <a:gdLst/>
            <a:ahLst/>
            <a:cxnLst/>
            <a:rect r="r" b="b" t="t" l="l"/>
            <a:pathLst>
              <a:path h="6160731" w="16878715">
                <a:moveTo>
                  <a:pt x="0" y="0"/>
                </a:moveTo>
                <a:lnTo>
                  <a:pt x="16878715" y="0"/>
                </a:lnTo>
                <a:lnTo>
                  <a:pt x="16878715" y="6160731"/>
                </a:lnTo>
                <a:lnTo>
                  <a:pt x="0" y="61607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942975"/>
            <a:ext cx="16230600" cy="131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b="true" sz="3714" spc="843">
                <a:solidFill>
                  <a:srgbClr val="EFEEE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FUNDAMENTAÇÃO ·</a:t>
            </a:r>
            <a:r>
              <a:rPr lang="en-US" b="true" sz="3714" spc="843">
                <a:solidFill>
                  <a:srgbClr val="EFEEE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O RISCO DA ALUCINAÇÃO</a:t>
            </a:r>
          </a:p>
          <a:p>
            <a:pPr algn="l">
              <a:lnSpc>
                <a:spcPts val="5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498761" y="9004910"/>
            <a:ext cx="5789239" cy="1220565"/>
          </a:xfrm>
          <a:custGeom>
            <a:avLst/>
            <a:gdLst/>
            <a:ahLst/>
            <a:cxnLst/>
            <a:rect r="r" b="b" t="t" l="l"/>
            <a:pathLst>
              <a:path h="1220565" w="5789239">
                <a:moveTo>
                  <a:pt x="0" y="0"/>
                </a:moveTo>
                <a:lnTo>
                  <a:pt x="5789239" y="0"/>
                </a:lnTo>
                <a:lnTo>
                  <a:pt x="5789239" y="1220565"/>
                </a:lnTo>
                <a:lnTo>
                  <a:pt x="0" y="122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4393" y="3978394"/>
            <a:ext cx="15933078" cy="2330213"/>
          </a:xfrm>
          <a:custGeom>
            <a:avLst/>
            <a:gdLst/>
            <a:ahLst/>
            <a:cxnLst/>
            <a:rect r="r" b="b" t="t" l="l"/>
            <a:pathLst>
              <a:path h="2330213" w="15933078">
                <a:moveTo>
                  <a:pt x="0" y="0"/>
                </a:moveTo>
                <a:lnTo>
                  <a:pt x="15933078" y="0"/>
                </a:lnTo>
                <a:lnTo>
                  <a:pt x="15933078" y="2330212"/>
                </a:lnTo>
                <a:lnTo>
                  <a:pt x="0" y="23302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7480181"/>
            <a:ext cx="15913398" cy="790195"/>
          </a:xfrm>
          <a:custGeom>
            <a:avLst/>
            <a:gdLst/>
            <a:ahLst/>
            <a:cxnLst/>
            <a:rect r="r" b="b" t="t" l="l"/>
            <a:pathLst>
              <a:path h="790195" w="15913398">
                <a:moveTo>
                  <a:pt x="0" y="0"/>
                </a:moveTo>
                <a:lnTo>
                  <a:pt x="15913398" y="0"/>
                </a:lnTo>
                <a:lnTo>
                  <a:pt x="15913398" y="790195"/>
                </a:lnTo>
                <a:lnTo>
                  <a:pt x="0" y="7901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6837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06871" y="952500"/>
            <a:ext cx="16230600" cy="1296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4"/>
              </a:lnSpc>
            </a:pPr>
            <a:r>
              <a:rPr lang="en-US" b="true" sz="3710" spc="842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PROPOSTA · O PROBLEMA CENTRAL</a:t>
            </a:r>
          </a:p>
          <a:p>
            <a:pPr algn="l">
              <a:lnSpc>
                <a:spcPts val="5194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7767" y="2163191"/>
            <a:ext cx="9702879" cy="647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5"/>
              </a:lnSpc>
              <a:spcBef>
                <a:spcPct val="0"/>
              </a:spcBef>
            </a:pPr>
            <a:r>
              <a:rPr lang="en-US" b="true" sz="373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Vocabulário livre não fala a língua do índice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498761" y="9004910"/>
            <a:ext cx="5789239" cy="1220565"/>
          </a:xfrm>
          <a:custGeom>
            <a:avLst/>
            <a:gdLst/>
            <a:ahLst/>
            <a:cxnLst/>
            <a:rect r="r" b="b" t="t" l="l"/>
            <a:pathLst>
              <a:path h="1220565" w="5789239">
                <a:moveTo>
                  <a:pt x="0" y="0"/>
                </a:moveTo>
                <a:lnTo>
                  <a:pt x="5789239" y="0"/>
                </a:lnTo>
                <a:lnTo>
                  <a:pt x="5789239" y="1220565"/>
                </a:lnTo>
                <a:lnTo>
                  <a:pt x="0" y="122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4537" y="2084479"/>
            <a:ext cx="16562934" cy="7173821"/>
          </a:xfrm>
          <a:custGeom>
            <a:avLst/>
            <a:gdLst/>
            <a:ahLst/>
            <a:cxnLst/>
            <a:rect r="r" b="b" t="t" l="l"/>
            <a:pathLst>
              <a:path h="7173821" w="16562934">
                <a:moveTo>
                  <a:pt x="0" y="0"/>
                </a:moveTo>
                <a:lnTo>
                  <a:pt x="16562934" y="0"/>
                </a:lnTo>
                <a:lnTo>
                  <a:pt x="16562934" y="7173821"/>
                </a:lnTo>
                <a:lnTo>
                  <a:pt x="0" y="7173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942975"/>
            <a:ext cx="16230600" cy="131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PROPOSTA · SOLUÇÃO</a:t>
            </a:r>
          </a:p>
          <a:p>
            <a:pPr algn="l">
              <a:lnSpc>
                <a:spcPts val="5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498761" y="9004910"/>
            <a:ext cx="5789239" cy="1220565"/>
          </a:xfrm>
          <a:custGeom>
            <a:avLst/>
            <a:gdLst/>
            <a:ahLst/>
            <a:cxnLst/>
            <a:rect r="r" b="b" t="t" l="l"/>
            <a:pathLst>
              <a:path h="1220565" w="5789239">
                <a:moveTo>
                  <a:pt x="0" y="0"/>
                </a:moveTo>
                <a:lnTo>
                  <a:pt x="5789239" y="0"/>
                </a:lnTo>
                <a:lnTo>
                  <a:pt x="5789239" y="1220565"/>
                </a:lnTo>
                <a:lnTo>
                  <a:pt x="0" y="122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0579" y="2791433"/>
            <a:ext cx="16906841" cy="6466867"/>
          </a:xfrm>
          <a:custGeom>
            <a:avLst/>
            <a:gdLst/>
            <a:ahLst/>
            <a:cxnLst/>
            <a:rect r="r" b="b" t="t" l="l"/>
            <a:pathLst>
              <a:path h="6466867" w="16906841">
                <a:moveTo>
                  <a:pt x="0" y="0"/>
                </a:moveTo>
                <a:lnTo>
                  <a:pt x="16906842" y="0"/>
                </a:lnTo>
                <a:lnTo>
                  <a:pt x="16906842" y="6466867"/>
                </a:lnTo>
                <a:lnTo>
                  <a:pt x="0" y="64668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942975"/>
            <a:ext cx="16230600" cy="131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IMPLEMENTAÇÃO · PLATAFORMA DE CHATBOT</a:t>
            </a:r>
          </a:p>
          <a:p>
            <a:pPr algn="l">
              <a:lnSpc>
                <a:spcPts val="5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498761" y="9004910"/>
            <a:ext cx="5789239" cy="1220565"/>
          </a:xfrm>
          <a:custGeom>
            <a:avLst/>
            <a:gdLst/>
            <a:ahLst/>
            <a:cxnLst/>
            <a:rect r="r" b="b" t="t" l="l"/>
            <a:pathLst>
              <a:path h="1220565" w="5789239">
                <a:moveTo>
                  <a:pt x="0" y="0"/>
                </a:moveTo>
                <a:lnTo>
                  <a:pt x="5789239" y="0"/>
                </a:lnTo>
                <a:lnTo>
                  <a:pt x="5789239" y="1220565"/>
                </a:lnTo>
                <a:lnTo>
                  <a:pt x="0" y="122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7351" y="2481500"/>
            <a:ext cx="17189640" cy="6295706"/>
          </a:xfrm>
          <a:custGeom>
            <a:avLst/>
            <a:gdLst/>
            <a:ahLst/>
            <a:cxnLst/>
            <a:rect r="r" b="b" t="t" l="l"/>
            <a:pathLst>
              <a:path h="6295706" w="17189640">
                <a:moveTo>
                  <a:pt x="0" y="0"/>
                </a:moveTo>
                <a:lnTo>
                  <a:pt x="17189640" y="0"/>
                </a:lnTo>
                <a:lnTo>
                  <a:pt x="17189640" y="6295706"/>
                </a:lnTo>
                <a:lnTo>
                  <a:pt x="0" y="62957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942975"/>
            <a:ext cx="16230600" cy="131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IMPLEMENTAÇÃO · MOTOR DE BUSCA</a:t>
            </a:r>
          </a:p>
          <a:p>
            <a:pPr algn="l">
              <a:lnSpc>
                <a:spcPts val="5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498761" y="9004910"/>
            <a:ext cx="5789239" cy="1220565"/>
          </a:xfrm>
          <a:custGeom>
            <a:avLst/>
            <a:gdLst/>
            <a:ahLst/>
            <a:cxnLst/>
            <a:rect r="r" b="b" t="t" l="l"/>
            <a:pathLst>
              <a:path h="1220565" w="5789239">
                <a:moveTo>
                  <a:pt x="0" y="0"/>
                </a:moveTo>
                <a:lnTo>
                  <a:pt x="5789239" y="0"/>
                </a:lnTo>
                <a:lnTo>
                  <a:pt x="5789239" y="1220565"/>
                </a:lnTo>
                <a:lnTo>
                  <a:pt x="0" y="122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3763" y="3887168"/>
            <a:ext cx="16976816" cy="3034606"/>
          </a:xfrm>
          <a:custGeom>
            <a:avLst/>
            <a:gdLst/>
            <a:ahLst/>
            <a:cxnLst/>
            <a:rect r="r" b="b" t="t" l="l"/>
            <a:pathLst>
              <a:path h="3034606" w="16976816">
                <a:moveTo>
                  <a:pt x="0" y="0"/>
                </a:moveTo>
                <a:lnTo>
                  <a:pt x="16976816" y="0"/>
                </a:lnTo>
                <a:lnTo>
                  <a:pt x="16976816" y="3034606"/>
                </a:lnTo>
                <a:lnTo>
                  <a:pt x="0" y="30346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942975"/>
            <a:ext cx="16230600" cy="131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IMPLEMENTAÇÃO · INDEXADOR</a:t>
            </a:r>
          </a:p>
          <a:p>
            <a:pPr algn="l">
              <a:lnSpc>
                <a:spcPts val="5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498761" y="9004910"/>
            <a:ext cx="5789239" cy="1220565"/>
          </a:xfrm>
          <a:custGeom>
            <a:avLst/>
            <a:gdLst/>
            <a:ahLst/>
            <a:cxnLst/>
            <a:rect r="r" b="b" t="t" l="l"/>
            <a:pathLst>
              <a:path h="1220565" w="5789239">
                <a:moveTo>
                  <a:pt x="0" y="0"/>
                </a:moveTo>
                <a:lnTo>
                  <a:pt x="5789239" y="0"/>
                </a:lnTo>
                <a:lnTo>
                  <a:pt x="5789239" y="1220565"/>
                </a:lnTo>
                <a:lnTo>
                  <a:pt x="0" y="122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5996" y="2219689"/>
            <a:ext cx="15076008" cy="7038611"/>
          </a:xfrm>
          <a:custGeom>
            <a:avLst/>
            <a:gdLst/>
            <a:ahLst/>
            <a:cxnLst/>
            <a:rect r="r" b="b" t="t" l="l"/>
            <a:pathLst>
              <a:path h="7038611" w="15076008">
                <a:moveTo>
                  <a:pt x="0" y="0"/>
                </a:moveTo>
                <a:lnTo>
                  <a:pt x="15076008" y="0"/>
                </a:lnTo>
                <a:lnTo>
                  <a:pt x="15076008" y="7038611"/>
                </a:lnTo>
                <a:lnTo>
                  <a:pt x="0" y="7038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942975"/>
            <a:ext cx="16230600" cy="131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IMPLEMENTAÇÃO · GERAÇÃO DA CONSULTA</a:t>
            </a:r>
          </a:p>
          <a:p>
            <a:pPr algn="l">
              <a:lnSpc>
                <a:spcPts val="5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498761" y="9004910"/>
            <a:ext cx="5789239" cy="1220565"/>
          </a:xfrm>
          <a:custGeom>
            <a:avLst/>
            <a:gdLst/>
            <a:ahLst/>
            <a:cxnLst/>
            <a:rect r="r" b="b" t="t" l="l"/>
            <a:pathLst>
              <a:path h="1220565" w="5789239">
                <a:moveTo>
                  <a:pt x="0" y="0"/>
                </a:moveTo>
                <a:lnTo>
                  <a:pt x="5789239" y="0"/>
                </a:lnTo>
                <a:lnTo>
                  <a:pt x="5789239" y="1220565"/>
                </a:lnTo>
                <a:lnTo>
                  <a:pt x="0" y="122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2777" y="1965957"/>
            <a:ext cx="17082446" cy="5007292"/>
          </a:xfrm>
          <a:custGeom>
            <a:avLst/>
            <a:gdLst/>
            <a:ahLst/>
            <a:cxnLst/>
            <a:rect r="r" b="b" t="t" l="l"/>
            <a:pathLst>
              <a:path h="5007292" w="17082446">
                <a:moveTo>
                  <a:pt x="0" y="0"/>
                </a:moveTo>
                <a:lnTo>
                  <a:pt x="17082446" y="0"/>
                </a:lnTo>
                <a:lnTo>
                  <a:pt x="17082446" y="5007292"/>
                </a:lnTo>
                <a:lnTo>
                  <a:pt x="0" y="5007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942975"/>
            <a:ext cx="16230600" cy="131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IMPLEMENTAÇÃO · RESULTADOS</a:t>
            </a:r>
          </a:p>
          <a:p>
            <a:pPr algn="l">
              <a:lnSpc>
                <a:spcPts val="5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498761" y="9004910"/>
            <a:ext cx="5789239" cy="1220565"/>
          </a:xfrm>
          <a:custGeom>
            <a:avLst/>
            <a:gdLst/>
            <a:ahLst/>
            <a:cxnLst/>
            <a:rect r="r" b="b" t="t" l="l"/>
            <a:pathLst>
              <a:path h="1220565" w="5789239">
                <a:moveTo>
                  <a:pt x="0" y="0"/>
                </a:moveTo>
                <a:lnTo>
                  <a:pt x="5789239" y="0"/>
                </a:lnTo>
                <a:lnTo>
                  <a:pt x="5789239" y="1220565"/>
                </a:lnTo>
                <a:lnTo>
                  <a:pt x="0" y="122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1560" y="2148346"/>
            <a:ext cx="15342827" cy="7109954"/>
          </a:xfrm>
          <a:custGeom>
            <a:avLst/>
            <a:gdLst/>
            <a:ahLst/>
            <a:cxnLst/>
            <a:rect r="r" b="b" t="t" l="l"/>
            <a:pathLst>
              <a:path h="7109954" w="15342827">
                <a:moveTo>
                  <a:pt x="0" y="0"/>
                </a:moveTo>
                <a:lnTo>
                  <a:pt x="15342827" y="0"/>
                </a:lnTo>
                <a:lnTo>
                  <a:pt x="15342827" y="7109954"/>
                </a:lnTo>
                <a:lnTo>
                  <a:pt x="0" y="71099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690" r="0" b="-469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942975"/>
            <a:ext cx="16230600" cy="131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IMPLEMENTAÇÃO · CANAL ALTERNATIVO</a:t>
            </a:r>
          </a:p>
          <a:p>
            <a:pPr algn="l">
              <a:lnSpc>
                <a:spcPts val="5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EFEEE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498761" y="9004910"/>
            <a:ext cx="5789239" cy="1220565"/>
          </a:xfrm>
          <a:custGeom>
            <a:avLst/>
            <a:gdLst/>
            <a:ahLst/>
            <a:cxnLst/>
            <a:rect r="r" b="b" t="t" l="l"/>
            <a:pathLst>
              <a:path h="1220565" w="5789239">
                <a:moveTo>
                  <a:pt x="0" y="0"/>
                </a:moveTo>
                <a:lnTo>
                  <a:pt x="5789239" y="0"/>
                </a:lnTo>
                <a:lnTo>
                  <a:pt x="5789239" y="1220565"/>
                </a:lnTo>
                <a:lnTo>
                  <a:pt x="0" y="122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9817" y="2614348"/>
            <a:ext cx="16064708" cy="6034306"/>
          </a:xfrm>
          <a:custGeom>
            <a:avLst/>
            <a:gdLst/>
            <a:ahLst/>
            <a:cxnLst/>
            <a:rect r="r" b="b" t="t" l="l"/>
            <a:pathLst>
              <a:path h="6034306" w="16064708">
                <a:moveTo>
                  <a:pt x="0" y="0"/>
                </a:moveTo>
                <a:lnTo>
                  <a:pt x="16064708" y="0"/>
                </a:lnTo>
                <a:lnTo>
                  <a:pt x="16064708" y="6034306"/>
                </a:lnTo>
                <a:lnTo>
                  <a:pt x="0" y="6034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942975"/>
            <a:ext cx="16230600" cy="131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b="true" sz="3714" spc="843">
                <a:solidFill>
                  <a:srgbClr val="EFEEE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IMPLEMENTAÇÃO · VISÃO GERAL</a:t>
            </a:r>
          </a:p>
          <a:p>
            <a:pPr algn="l">
              <a:lnSpc>
                <a:spcPts val="5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EFEEE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498761" y="9004910"/>
            <a:ext cx="5789239" cy="1220565"/>
          </a:xfrm>
          <a:custGeom>
            <a:avLst/>
            <a:gdLst/>
            <a:ahLst/>
            <a:cxnLst/>
            <a:rect r="r" b="b" t="t" l="l"/>
            <a:pathLst>
              <a:path h="1220565" w="5789239">
                <a:moveTo>
                  <a:pt x="0" y="0"/>
                </a:moveTo>
                <a:lnTo>
                  <a:pt x="5789239" y="0"/>
                </a:lnTo>
                <a:lnTo>
                  <a:pt x="5789239" y="1220565"/>
                </a:lnTo>
                <a:lnTo>
                  <a:pt x="0" y="122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0803" y="2750206"/>
            <a:ext cx="17806393" cy="5308531"/>
          </a:xfrm>
          <a:custGeom>
            <a:avLst/>
            <a:gdLst/>
            <a:ahLst/>
            <a:cxnLst/>
            <a:rect r="r" b="b" t="t" l="l"/>
            <a:pathLst>
              <a:path h="5308531" w="17806393">
                <a:moveTo>
                  <a:pt x="0" y="0"/>
                </a:moveTo>
                <a:lnTo>
                  <a:pt x="17806394" y="0"/>
                </a:lnTo>
                <a:lnTo>
                  <a:pt x="17806394" y="5308531"/>
                </a:lnTo>
                <a:lnTo>
                  <a:pt x="0" y="53085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EFEEE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DEMONSTRAÇÃO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498761" y="9004910"/>
            <a:ext cx="5789239" cy="1220565"/>
          </a:xfrm>
          <a:custGeom>
            <a:avLst/>
            <a:gdLst/>
            <a:ahLst/>
            <a:cxnLst/>
            <a:rect r="r" b="b" t="t" l="l"/>
            <a:pathLst>
              <a:path h="1220565" w="5789239">
                <a:moveTo>
                  <a:pt x="0" y="0"/>
                </a:moveTo>
                <a:lnTo>
                  <a:pt x="5789239" y="0"/>
                </a:lnTo>
                <a:lnTo>
                  <a:pt x="5789239" y="1220565"/>
                </a:lnTo>
                <a:lnTo>
                  <a:pt x="0" y="122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2056" y="2289394"/>
            <a:ext cx="16743887" cy="6571976"/>
          </a:xfrm>
          <a:custGeom>
            <a:avLst/>
            <a:gdLst/>
            <a:ahLst/>
            <a:cxnLst/>
            <a:rect r="r" b="b" t="t" l="l"/>
            <a:pathLst>
              <a:path h="6571976" w="16743887">
                <a:moveTo>
                  <a:pt x="0" y="0"/>
                </a:moveTo>
                <a:lnTo>
                  <a:pt x="16743888" y="0"/>
                </a:lnTo>
                <a:lnTo>
                  <a:pt x="16743888" y="6571975"/>
                </a:lnTo>
                <a:lnTo>
                  <a:pt x="0" y="6571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CONCLUSÃO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498761" y="9004910"/>
            <a:ext cx="5789239" cy="1220565"/>
          </a:xfrm>
          <a:custGeom>
            <a:avLst/>
            <a:gdLst/>
            <a:ahLst/>
            <a:cxnLst/>
            <a:rect r="r" b="b" t="t" l="l"/>
            <a:pathLst>
              <a:path h="1220565" w="5789239">
                <a:moveTo>
                  <a:pt x="0" y="0"/>
                </a:moveTo>
                <a:lnTo>
                  <a:pt x="5789239" y="0"/>
                </a:lnTo>
                <a:lnTo>
                  <a:pt x="5789239" y="1220565"/>
                </a:lnTo>
                <a:lnTo>
                  <a:pt x="0" y="122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0798" y="2740519"/>
            <a:ext cx="16686405" cy="5777668"/>
          </a:xfrm>
          <a:custGeom>
            <a:avLst/>
            <a:gdLst/>
            <a:ahLst/>
            <a:cxnLst/>
            <a:rect r="r" b="b" t="t" l="l"/>
            <a:pathLst>
              <a:path h="5777668" w="16686405">
                <a:moveTo>
                  <a:pt x="0" y="0"/>
                </a:moveTo>
                <a:lnTo>
                  <a:pt x="16686404" y="0"/>
                </a:lnTo>
                <a:lnTo>
                  <a:pt x="16686404" y="5777668"/>
                </a:lnTo>
                <a:lnTo>
                  <a:pt x="0" y="5777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942975"/>
            <a:ext cx="16230600" cy="131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CONCLUSÃO · PRÓXIMOS PASSOS</a:t>
            </a:r>
          </a:p>
          <a:p>
            <a:pPr algn="l">
              <a:lnSpc>
                <a:spcPts val="5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-117243"/>
            <a:ext cx="8185422" cy="1725760"/>
          </a:xfrm>
          <a:custGeom>
            <a:avLst/>
            <a:gdLst/>
            <a:ahLst/>
            <a:cxnLst/>
            <a:rect r="r" b="b" t="t" l="l"/>
            <a:pathLst>
              <a:path h="1725760" w="8185422">
                <a:moveTo>
                  <a:pt x="0" y="0"/>
                </a:moveTo>
                <a:lnTo>
                  <a:pt x="8185422" y="0"/>
                </a:lnTo>
                <a:lnTo>
                  <a:pt x="8185422" y="1725759"/>
                </a:lnTo>
                <a:lnTo>
                  <a:pt x="0" y="17257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82" y="4728792"/>
            <a:ext cx="16230600" cy="615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0"/>
              </a:lnSpc>
              <a:spcBef>
                <a:spcPct val="0"/>
              </a:spcBef>
            </a:pPr>
            <a:r>
              <a:rPr lang="en-US" b="true" sz="3514" spc="797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CHATBOT PARA ATAS INSTITUCIONAIS DA UFRRJ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6882" y="2250581"/>
            <a:ext cx="12809453" cy="208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Obrigado!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6" y="6649912"/>
            <a:ext cx="10908318" cy="349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Orientador</a:t>
            </a: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: Ubiratam Carvalho de Paula Jr, D.Sc.</a:t>
            </a:r>
          </a:p>
          <a:p>
            <a:pPr algn="l">
              <a:lnSpc>
                <a:spcPts val="3450"/>
              </a:lnSpc>
            </a:pPr>
          </a:p>
          <a:p>
            <a:pPr algn="l">
              <a:lnSpc>
                <a:spcPts val="3450"/>
              </a:lnSpc>
            </a:pPr>
            <a:r>
              <a:rPr lang="en-US" sz="2300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Co-orientador</a:t>
            </a: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: Fellipe Ribeiro Duarte, D.Sc.</a:t>
            </a:r>
          </a:p>
          <a:p>
            <a:pPr algn="l">
              <a:lnSpc>
                <a:spcPts val="3450"/>
              </a:lnSpc>
            </a:pPr>
          </a:p>
          <a:p>
            <a:pPr algn="l">
              <a:lnSpc>
                <a:spcPts val="3450"/>
              </a:lnSpc>
            </a:pPr>
            <a:r>
              <a:rPr lang="en-US" sz="2300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Alunos</a:t>
            </a: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: Felipe Rangel da Silva,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Gabriel Perez Vargas de Vasconcelos </a:t>
            </a:r>
          </a:p>
          <a:p>
            <a:pPr algn="l">
              <a:lnSpc>
                <a:spcPts val="3450"/>
              </a:lnSpc>
            </a:pP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                                                                                             Nova Iguaçu, Julho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DAHN8_0Y83M</dc:identifier>
  <dcterms:modified xsi:type="dcterms:W3CDTF">2011-08-01T06:04:30Z</dcterms:modified>
  <cp:revision>1</cp:revision>
  <dc:title>Apresentação Final TCC</dc:title>
</cp:coreProperties>
</file>